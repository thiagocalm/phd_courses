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4" r:id="rId2"/>
    <p:sldId id="329" r:id="rId3"/>
    <p:sldId id="326" r:id="rId4"/>
    <p:sldId id="327" r:id="rId5"/>
    <p:sldId id="328" r:id="rId6"/>
    <p:sldId id="320" r:id="rId7"/>
    <p:sldId id="321" r:id="rId8"/>
    <p:sldId id="322" r:id="rId9"/>
    <p:sldId id="323" r:id="rId10"/>
    <p:sldId id="325" r:id="rId11"/>
    <p:sldId id="316" r:id="rId12"/>
    <p:sldId id="317" r:id="rId13"/>
    <p:sldId id="318" r:id="rId14"/>
    <p:sldId id="319" r:id="rId1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30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54FA-153F-4121-8658-4BB3ECB328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31B535-3CB4-4A88-8BE6-11BA3A4810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92ECE-E842-4355-AA94-1929EBD3D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EC827-243D-41E8-B792-FE4E9AD2A0A3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72A82-A5E0-45DD-AB11-375AD841B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134F3-DD68-4EBE-B2CC-220E7E683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2F614-3506-42ED-A87F-BCB1D1940E7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692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28B31-1238-4524-848E-A3352546F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C8BF5-00E0-4E6F-B3C9-71F8DD65F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FA000-940C-460E-93E0-192396F44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EC827-243D-41E8-B792-FE4E9AD2A0A3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DAA76-76E5-41B7-BBC5-17C1DBEFF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595EB-68B3-4C58-8D8A-B6EE7309A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2F614-3506-42ED-A87F-BCB1D1940E7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6074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C2F4D-69A6-4708-BC65-F7E261946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4F17A-181B-4295-BC46-6E6DB14BC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5265B-A18A-4584-ABA9-802149081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EC827-243D-41E8-B792-FE4E9AD2A0A3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A34E8-5F18-4201-BC9E-5C928989A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A6495-6DAF-47A5-8AD2-A4F974FAC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2F614-3506-42ED-A87F-BCB1D1940E7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4338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E4E93-76D9-46ED-9CED-5FC30AC29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A614E-3F1E-446F-B135-B1AED670CD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5C8482-5322-49AF-807F-E46C0F3D1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1F9F14-DC1C-4C82-8F68-416831A20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EC827-243D-41E8-B792-FE4E9AD2A0A3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C9519-6446-429B-AD71-E0DADD06C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B6AF58-1FD5-4960-82F9-2F4541ED1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2F614-3506-42ED-A87F-BCB1D1940E7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5615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3ED32-78BB-43CE-8E67-BDF5A42AE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9A9AA-AE08-4166-8F27-AB87DC158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391622-48E6-45B6-BEBA-CA526B2F9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5A11D4-DD03-4DB3-A96A-76671104A9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84FD22-5958-4D03-8401-9E8CD220CA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6A2B34-16E3-43BA-BF88-2EADC62D5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EC827-243D-41E8-B792-FE4E9AD2A0A3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08E555-5F94-410B-A804-077A400ED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025771-BA30-48AF-9522-E7ED88B15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2F614-3506-42ED-A87F-BCB1D1940E7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6182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E5C02-807B-46B3-A6D5-42BE10172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556079-568F-45E4-AA8F-CCB7C57AB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EC827-243D-41E8-B792-FE4E9AD2A0A3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D563B6-31FE-4244-976A-37AA0BA73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0DC3A3-8443-47E8-A3F6-7FD995DC8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2F614-3506-42ED-A87F-BCB1D1940E7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5520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03A257-6A63-46B6-B3D4-9F9DF0393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EC827-243D-41E8-B792-FE4E9AD2A0A3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5B1B09-A0FE-4E1A-8DB1-790A042B8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D4070-0C20-4B71-8A4A-118E37A09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2F614-3506-42ED-A87F-BCB1D1940E7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9217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399AE-AE41-4B87-96CF-FC6D50D4C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C00E4-D829-4A13-8FF3-935C384D6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A4CDC0-16A5-447D-9D1B-D9181434E2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C9717-5311-4C54-81FC-DC7837410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EC827-243D-41E8-B792-FE4E9AD2A0A3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7AC477-9242-49CD-8BE8-94F77BE06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78E9E-74C4-4461-B4E6-611864761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2F614-3506-42ED-A87F-BCB1D1940E7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4704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D8EE4-E100-4D4A-BD53-6A7010BE7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122816-4558-4483-AE8D-155BE2322E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DDF3D8-5446-4D55-8A2C-4401D4CCE5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DA0492-68C7-4E57-B3AB-FA921BB9E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EC827-243D-41E8-B792-FE4E9AD2A0A3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F2A063-F1A2-42A8-B9D7-7BDCBE5AD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B74E3D-3727-4A3A-B3E3-759E558F2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2F614-3506-42ED-A87F-BCB1D1940E7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0726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F32A6-304D-4806-8E0E-8298DF76B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3F8B88-2838-4443-AB5A-D81814B38A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C9ABC-C725-439A-9F46-F18D36002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EC827-243D-41E8-B792-FE4E9AD2A0A3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44FDB-D243-417B-BE82-49FD85924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5B13B-5E3B-479D-955B-EB2D17363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2F614-3506-42ED-A87F-BCB1D1940E7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8598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AA5BC3-467B-4E1F-860E-2E058C76DA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2C9214-A46C-4553-8AC5-7030245B11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45151-BE12-46B6-89F8-396998234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EC827-243D-41E8-B792-FE4E9AD2A0A3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E72C9-9F5C-452D-86FB-08E4462E1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C1DB3-B123-48BA-9464-C15598F81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2F614-3506-42ED-A87F-BCB1D1940E7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133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6F1A26-DA21-4A65-9714-29CC3F7BE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75CDF-A579-4CC8-8EA5-0DA90BAFE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87CCE-7567-40CF-AD4B-0E2154918E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EC827-243D-41E8-B792-FE4E9AD2A0A3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57E46-E338-4EFC-ACD7-8A6D255CC5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E9782-85A8-4967-A0F2-3E821F2309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2F614-3506-42ED-A87F-BCB1D1940E7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1270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8BRDj7z6MVU_oB0zeL6wY2aygHgaEqfo/view?usp=sharing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B1904-F81F-4EB2-835A-DE809C745C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Digital Cartography and Spatial Analisys with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A9F9C5-1B52-46A1-8E6B-07E291818B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08323"/>
            <a:ext cx="9144000" cy="1655762"/>
          </a:xfrm>
        </p:spPr>
        <p:txBody>
          <a:bodyPr/>
          <a:lstStyle/>
          <a:p>
            <a:r>
              <a:rPr lang="es-ES" b="1" dirty="0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  <a:hlinkClick r:id="rId2"/>
              </a:rPr>
              <a:t>Juan Galeano </a:t>
            </a:r>
            <a:endParaRPr lang="es-ES" b="1" dirty="0">
              <a:solidFill>
                <a:srgbClr val="533B96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dirty="0">
              <a:solidFill>
                <a:srgbClr val="533B96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s-ES" dirty="0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Barcelona Summer </a:t>
            </a:r>
            <a:r>
              <a:rPr lang="es-ES" dirty="0" err="1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School</a:t>
            </a:r>
            <a:r>
              <a:rPr lang="es-ES" dirty="0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dirty="0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Demography</a:t>
            </a:r>
            <a:r>
              <a:rPr lang="es-ES" dirty="0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dirty="0" err="1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July</a:t>
            </a:r>
            <a:r>
              <a:rPr lang="es-ES" dirty="0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2025</a:t>
            </a:r>
          </a:p>
          <a:p>
            <a:endParaRPr lang="es-ES" dirty="0">
              <a:solidFill>
                <a:srgbClr val="533B96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4" name="Conector recto 5">
            <a:extLst>
              <a:ext uri="{FF2B5EF4-FFF2-40B4-BE49-F238E27FC236}">
                <a16:creationId xmlns:a16="http://schemas.microsoft.com/office/drawing/2014/main" id="{B6498AF4-9942-4EDC-93B4-1A536116A174}"/>
              </a:ext>
            </a:extLst>
          </p:cNvPr>
          <p:cNvCxnSpPr/>
          <p:nvPr/>
        </p:nvCxnSpPr>
        <p:spPr>
          <a:xfrm>
            <a:off x="1345532" y="1643792"/>
            <a:ext cx="9612000" cy="9427"/>
          </a:xfrm>
          <a:prstGeom prst="line">
            <a:avLst/>
          </a:prstGeom>
          <a:ln w="66675">
            <a:solidFill>
              <a:srgbClr val="533B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5">
            <a:extLst>
              <a:ext uri="{FF2B5EF4-FFF2-40B4-BE49-F238E27FC236}">
                <a16:creationId xmlns:a16="http://schemas.microsoft.com/office/drawing/2014/main" id="{9D35E80F-2168-4FDE-8727-8975C0EA3781}"/>
              </a:ext>
            </a:extLst>
          </p:cNvPr>
          <p:cNvCxnSpPr/>
          <p:nvPr/>
        </p:nvCxnSpPr>
        <p:spPr>
          <a:xfrm>
            <a:off x="1358786" y="3679341"/>
            <a:ext cx="9612000" cy="9427"/>
          </a:xfrm>
          <a:prstGeom prst="line">
            <a:avLst/>
          </a:prstGeom>
          <a:ln w="66675">
            <a:solidFill>
              <a:srgbClr val="533B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3808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cto 5">
            <a:extLst>
              <a:ext uri="{FF2B5EF4-FFF2-40B4-BE49-F238E27FC236}">
                <a16:creationId xmlns:a16="http://schemas.microsoft.com/office/drawing/2014/main" id="{EFF7DAD0-6A7A-470F-9A18-342B402BC30D}"/>
              </a:ext>
            </a:extLst>
          </p:cNvPr>
          <p:cNvCxnSpPr/>
          <p:nvPr/>
        </p:nvCxnSpPr>
        <p:spPr>
          <a:xfrm>
            <a:off x="152837" y="528641"/>
            <a:ext cx="11880000" cy="9427"/>
          </a:xfrm>
          <a:prstGeom prst="line">
            <a:avLst/>
          </a:prstGeom>
          <a:ln w="66675">
            <a:solidFill>
              <a:srgbClr val="533B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66B79130-9130-4AD0-9C7B-3E2A127380DB}"/>
              </a:ext>
            </a:extLst>
          </p:cNvPr>
          <p:cNvSpPr/>
          <p:nvPr/>
        </p:nvSpPr>
        <p:spPr>
          <a:xfrm>
            <a:off x="279750" y="130072"/>
            <a:ext cx="3852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b="1" dirty="0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ARE WE ALL CLEAR WHIT THIS?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6011B9-888B-49B6-9F48-9CEE28AE8F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964" t="37079" r="31748" b="29428"/>
          <a:stretch/>
        </p:blipFill>
        <p:spPr>
          <a:xfrm>
            <a:off x="112358" y="589924"/>
            <a:ext cx="11967283" cy="621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486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ctor recto 5">
            <a:extLst>
              <a:ext uri="{FF2B5EF4-FFF2-40B4-BE49-F238E27FC236}">
                <a16:creationId xmlns:a16="http://schemas.microsoft.com/office/drawing/2014/main" id="{9D70C289-336D-4AA6-80A9-0BA9AB0D57A8}"/>
              </a:ext>
            </a:extLst>
          </p:cNvPr>
          <p:cNvCxnSpPr/>
          <p:nvPr/>
        </p:nvCxnSpPr>
        <p:spPr>
          <a:xfrm>
            <a:off x="152837" y="528641"/>
            <a:ext cx="11880000" cy="9427"/>
          </a:xfrm>
          <a:prstGeom prst="line">
            <a:avLst/>
          </a:prstGeom>
          <a:ln w="66675">
            <a:solidFill>
              <a:srgbClr val="533B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612FAAF-9020-4C5E-AD09-5473AC59FCCB}"/>
              </a:ext>
            </a:extLst>
          </p:cNvPr>
          <p:cNvSpPr/>
          <p:nvPr/>
        </p:nvSpPr>
        <p:spPr>
          <a:xfrm>
            <a:off x="279750" y="130072"/>
            <a:ext cx="77720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 err="1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IDs</a:t>
            </a:r>
            <a:r>
              <a:rPr lang="es-ES" b="1" dirty="0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ADMINISTRATIVE LEVES SPAIN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720018-D9CB-4282-A5E6-69928617D0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439" r="28396"/>
          <a:stretch/>
        </p:blipFill>
        <p:spPr>
          <a:xfrm>
            <a:off x="3997937" y="572251"/>
            <a:ext cx="7539300" cy="615567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890B99D-6AD4-4855-8516-949613B30111}"/>
              </a:ext>
            </a:extLst>
          </p:cNvPr>
          <p:cNvSpPr/>
          <p:nvPr/>
        </p:nvSpPr>
        <p:spPr>
          <a:xfrm>
            <a:off x="0" y="5878792"/>
            <a:ext cx="61248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 err="1"/>
              <a:t>st_bbox</a:t>
            </a:r>
            <a:r>
              <a:rPr lang="es-ES" dirty="0"/>
              <a:t>(</a:t>
            </a:r>
            <a:r>
              <a:rPr lang="es-ES" dirty="0" err="1"/>
              <a:t>peninsulaPols</a:t>
            </a:r>
            <a:r>
              <a:rPr lang="es-ES" dirty="0"/>
              <a:t>)</a:t>
            </a:r>
          </a:p>
          <a:p>
            <a:r>
              <a:rPr lang="es-ES" b="1" dirty="0"/>
              <a:t>     </a:t>
            </a:r>
            <a:r>
              <a:rPr lang="es-ES" b="1" dirty="0" err="1"/>
              <a:t>xmin</a:t>
            </a:r>
            <a:r>
              <a:rPr lang="es-ES" b="1" dirty="0"/>
              <a:t>           </a:t>
            </a:r>
            <a:r>
              <a:rPr lang="es-ES" b="1" dirty="0" err="1"/>
              <a:t>ymin</a:t>
            </a:r>
            <a:r>
              <a:rPr lang="es-ES" b="1" dirty="0"/>
              <a:t>          </a:t>
            </a:r>
            <a:r>
              <a:rPr lang="es-ES" b="1" dirty="0" err="1"/>
              <a:t>xmax</a:t>
            </a:r>
            <a:r>
              <a:rPr lang="es-ES" b="1" dirty="0"/>
              <a:t>       </a:t>
            </a:r>
            <a:r>
              <a:rPr lang="es-ES" b="1" dirty="0" err="1"/>
              <a:t>ymax</a:t>
            </a:r>
            <a:r>
              <a:rPr lang="es-ES" b="1" dirty="0"/>
              <a:t> </a:t>
            </a:r>
          </a:p>
          <a:p>
            <a:r>
              <a:rPr lang="es-ES" dirty="0"/>
              <a:t>-9.301806 35.170582  4.328195 43.791527</a:t>
            </a:r>
          </a:p>
        </p:txBody>
      </p:sp>
    </p:spTree>
    <p:extLst>
      <p:ext uri="{BB962C8B-B14F-4D97-AF65-F5344CB8AC3E}">
        <p14:creationId xmlns:p14="http://schemas.microsoft.com/office/powerpoint/2010/main" val="2568134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ctor recto 5">
            <a:extLst>
              <a:ext uri="{FF2B5EF4-FFF2-40B4-BE49-F238E27FC236}">
                <a16:creationId xmlns:a16="http://schemas.microsoft.com/office/drawing/2014/main" id="{9D70C289-336D-4AA6-80A9-0BA9AB0D57A8}"/>
              </a:ext>
            </a:extLst>
          </p:cNvPr>
          <p:cNvCxnSpPr/>
          <p:nvPr/>
        </p:nvCxnSpPr>
        <p:spPr>
          <a:xfrm>
            <a:off x="152837" y="528641"/>
            <a:ext cx="11880000" cy="9427"/>
          </a:xfrm>
          <a:prstGeom prst="line">
            <a:avLst/>
          </a:prstGeom>
          <a:ln w="66675">
            <a:solidFill>
              <a:srgbClr val="533B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612FAAF-9020-4C5E-AD09-5473AC59FCCB}"/>
              </a:ext>
            </a:extLst>
          </p:cNvPr>
          <p:cNvSpPr/>
          <p:nvPr/>
        </p:nvSpPr>
        <p:spPr>
          <a:xfrm>
            <a:off x="279750" y="130072"/>
            <a:ext cx="77720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 err="1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IDs</a:t>
            </a:r>
            <a:r>
              <a:rPr lang="es-ES" b="1" dirty="0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ADMINISTRATIVE LEVES SPAIN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4A9C0F-5D6D-47A5-9640-7C0BA6FE26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807" r="10400"/>
          <a:stretch/>
        </p:blipFill>
        <p:spPr>
          <a:xfrm>
            <a:off x="902793" y="1267218"/>
            <a:ext cx="10264494" cy="447756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BAC21A0-65B6-41F1-AA58-6098478ADBA1}"/>
              </a:ext>
            </a:extLst>
          </p:cNvPr>
          <p:cNvSpPr/>
          <p:nvPr/>
        </p:nvSpPr>
        <p:spPr>
          <a:xfrm>
            <a:off x="978564" y="5854918"/>
            <a:ext cx="83483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/>
              <a:t> </a:t>
            </a:r>
            <a:r>
              <a:rPr lang="es-ES" dirty="0" err="1"/>
              <a:t>st_bbox</a:t>
            </a:r>
            <a:r>
              <a:rPr lang="es-ES" dirty="0"/>
              <a:t>(</a:t>
            </a:r>
            <a:r>
              <a:rPr lang="es-ES" dirty="0" err="1"/>
              <a:t>islandsPols</a:t>
            </a:r>
            <a:r>
              <a:rPr lang="es-ES" dirty="0"/>
              <a:t>)</a:t>
            </a:r>
          </a:p>
          <a:p>
            <a:r>
              <a:rPr lang="es-ES" b="1" dirty="0"/>
              <a:t>     </a:t>
            </a:r>
            <a:r>
              <a:rPr lang="es-ES" b="1" dirty="0" err="1"/>
              <a:t>xmin</a:t>
            </a:r>
            <a:r>
              <a:rPr lang="es-ES" b="1" dirty="0"/>
              <a:t>          </a:t>
            </a:r>
            <a:r>
              <a:rPr lang="es-ES" b="1" dirty="0" err="1"/>
              <a:t>ymin</a:t>
            </a:r>
            <a:r>
              <a:rPr lang="es-ES" b="1" dirty="0"/>
              <a:t>        </a:t>
            </a:r>
            <a:r>
              <a:rPr lang="es-ES" b="1" dirty="0" err="1"/>
              <a:t>xmax</a:t>
            </a:r>
            <a:r>
              <a:rPr lang="es-ES" b="1" dirty="0"/>
              <a:t>          </a:t>
            </a:r>
            <a:r>
              <a:rPr lang="es-ES" b="1" dirty="0" err="1"/>
              <a:t>ymax</a:t>
            </a:r>
            <a:r>
              <a:rPr lang="es-ES" b="1" dirty="0"/>
              <a:t> </a:t>
            </a:r>
          </a:p>
          <a:p>
            <a:r>
              <a:rPr lang="es-ES" dirty="0"/>
              <a:t>-18.16153  27.63736 -13.33458  29.41736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F8CABB-F6C5-4AD2-9C7E-B7ED27F9DEA5}"/>
              </a:ext>
            </a:extLst>
          </p:cNvPr>
          <p:cNvSpPr/>
          <p:nvPr/>
        </p:nvSpPr>
        <p:spPr>
          <a:xfrm>
            <a:off x="5385989" y="6104599"/>
            <a:ext cx="3940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 err="1"/>
              <a:t>islandsPols_g</a:t>
            </a:r>
            <a:r>
              <a:rPr lang="es-ES" dirty="0"/>
              <a:t> &lt;- </a:t>
            </a:r>
            <a:r>
              <a:rPr lang="es-ES" dirty="0" err="1"/>
              <a:t>islandsPols_g</a:t>
            </a:r>
            <a:r>
              <a:rPr lang="es-ES" dirty="0"/>
              <a:t> + c(5, 7.5)</a:t>
            </a:r>
          </a:p>
        </p:txBody>
      </p:sp>
    </p:spTree>
    <p:extLst>
      <p:ext uri="{BB962C8B-B14F-4D97-AF65-F5344CB8AC3E}">
        <p14:creationId xmlns:p14="http://schemas.microsoft.com/office/powerpoint/2010/main" val="1065364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ctor recto 5">
            <a:extLst>
              <a:ext uri="{FF2B5EF4-FFF2-40B4-BE49-F238E27FC236}">
                <a16:creationId xmlns:a16="http://schemas.microsoft.com/office/drawing/2014/main" id="{9D70C289-336D-4AA6-80A9-0BA9AB0D57A8}"/>
              </a:ext>
            </a:extLst>
          </p:cNvPr>
          <p:cNvCxnSpPr/>
          <p:nvPr/>
        </p:nvCxnSpPr>
        <p:spPr>
          <a:xfrm>
            <a:off x="152837" y="528641"/>
            <a:ext cx="11880000" cy="9427"/>
          </a:xfrm>
          <a:prstGeom prst="line">
            <a:avLst/>
          </a:prstGeom>
          <a:ln w="66675">
            <a:solidFill>
              <a:srgbClr val="533B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612FAAF-9020-4C5E-AD09-5473AC59FCCB}"/>
              </a:ext>
            </a:extLst>
          </p:cNvPr>
          <p:cNvSpPr/>
          <p:nvPr/>
        </p:nvSpPr>
        <p:spPr>
          <a:xfrm>
            <a:off x="279750" y="130072"/>
            <a:ext cx="77720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 err="1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IDs</a:t>
            </a:r>
            <a:r>
              <a:rPr lang="es-ES" b="1" dirty="0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ADMINISTRATIVE LEVES SPAIN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AC21A0-65B6-41F1-AA58-6098478ADBA1}"/>
              </a:ext>
            </a:extLst>
          </p:cNvPr>
          <p:cNvSpPr/>
          <p:nvPr/>
        </p:nvSpPr>
        <p:spPr>
          <a:xfrm>
            <a:off x="978564" y="5623909"/>
            <a:ext cx="834831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/>
              <a:t> </a:t>
            </a:r>
            <a:r>
              <a:rPr lang="es-ES" dirty="0" err="1"/>
              <a:t>st_bbox</a:t>
            </a:r>
            <a:r>
              <a:rPr lang="es-ES" dirty="0"/>
              <a:t>(</a:t>
            </a:r>
            <a:r>
              <a:rPr lang="es-ES" dirty="0" err="1"/>
              <a:t>islandsPols</a:t>
            </a:r>
            <a:r>
              <a:rPr lang="es-ES" dirty="0"/>
              <a:t>)</a:t>
            </a:r>
          </a:p>
          <a:p>
            <a:r>
              <a:rPr lang="es-ES" b="1" dirty="0"/>
              <a:t>     </a:t>
            </a:r>
            <a:r>
              <a:rPr lang="es-ES" b="1" dirty="0" err="1"/>
              <a:t>xmin</a:t>
            </a:r>
            <a:r>
              <a:rPr lang="es-ES" b="1" dirty="0"/>
              <a:t>                  </a:t>
            </a:r>
            <a:r>
              <a:rPr lang="es-ES" b="1" dirty="0" err="1"/>
              <a:t>ymin</a:t>
            </a:r>
            <a:r>
              <a:rPr lang="es-ES" b="1" dirty="0"/>
              <a:t>                        </a:t>
            </a:r>
            <a:r>
              <a:rPr lang="es-ES" b="1" dirty="0" err="1"/>
              <a:t>xmax</a:t>
            </a:r>
            <a:r>
              <a:rPr lang="es-ES" b="1" dirty="0"/>
              <a:t>                  </a:t>
            </a:r>
            <a:r>
              <a:rPr lang="es-ES" b="1" dirty="0" err="1"/>
              <a:t>ymax</a:t>
            </a:r>
            <a:r>
              <a:rPr lang="es-ES" b="1" dirty="0"/>
              <a:t> </a:t>
            </a:r>
          </a:p>
          <a:p>
            <a:r>
              <a:rPr lang="es-ES" dirty="0"/>
              <a:t>-18.16153+5    27.63736+7.5        -13.33458+5        29.41736+7.5</a:t>
            </a:r>
          </a:p>
          <a:p>
            <a:r>
              <a:rPr lang="es-ES" dirty="0"/>
              <a:t> -</a:t>
            </a:r>
            <a:r>
              <a:rPr lang="es-ES" dirty="0">
                <a:solidFill>
                  <a:srgbClr val="FF0000"/>
                </a:solidFill>
              </a:rPr>
              <a:t>13.16153</a:t>
            </a:r>
            <a:r>
              <a:rPr lang="es-ES" dirty="0"/>
              <a:t>           </a:t>
            </a:r>
            <a:r>
              <a:rPr lang="es-ES" dirty="0">
                <a:solidFill>
                  <a:srgbClr val="FF0000"/>
                </a:solidFill>
              </a:rPr>
              <a:t>35.13736                -8.33458            36.91736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F8CABB-F6C5-4AD2-9C7E-B7ED27F9DEA5}"/>
              </a:ext>
            </a:extLst>
          </p:cNvPr>
          <p:cNvSpPr/>
          <p:nvPr/>
        </p:nvSpPr>
        <p:spPr>
          <a:xfrm>
            <a:off x="7657555" y="6104599"/>
            <a:ext cx="3940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 err="1"/>
              <a:t>islandsPols_g</a:t>
            </a:r>
            <a:r>
              <a:rPr lang="es-ES" dirty="0"/>
              <a:t> &lt;- </a:t>
            </a:r>
            <a:r>
              <a:rPr lang="es-ES" dirty="0" err="1"/>
              <a:t>islandsPols_g</a:t>
            </a:r>
            <a:r>
              <a:rPr lang="es-ES" dirty="0"/>
              <a:t> + c(5, 7.5)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F6CEB6-330A-4A73-BBF4-2C645D5008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650" r="22356"/>
          <a:stretch/>
        </p:blipFill>
        <p:spPr>
          <a:xfrm>
            <a:off x="2560319" y="1155957"/>
            <a:ext cx="7093820" cy="4546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703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5">
            <a:extLst>
              <a:ext uri="{FF2B5EF4-FFF2-40B4-BE49-F238E27FC236}">
                <a16:creationId xmlns:a16="http://schemas.microsoft.com/office/drawing/2014/main" id="{9A6B8944-6A50-4949-9B04-6273C4801A22}"/>
              </a:ext>
            </a:extLst>
          </p:cNvPr>
          <p:cNvCxnSpPr/>
          <p:nvPr/>
        </p:nvCxnSpPr>
        <p:spPr>
          <a:xfrm>
            <a:off x="152837" y="528641"/>
            <a:ext cx="11880000" cy="9427"/>
          </a:xfrm>
          <a:prstGeom prst="line">
            <a:avLst/>
          </a:prstGeom>
          <a:ln w="66675">
            <a:solidFill>
              <a:srgbClr val="533B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D45DDA7-CA84-4FE3-8BF4-8D1306BB7BD1}"/>
              </a:ext>
            </a:extLst>
          </p:cNvPr>
          <p:cNvSpPr/>
          <p:nvPr/>
        </p:nvSpPr>
        <p:spPr>
          <a:xfrm>
            <a:off x="279750" y="130072"/>
            <a:ext cx="77720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 err="1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IDs</a:t>
            </a:r>
            <a:r>
              <a:rPr lang="es-ES" b="1" dirty="0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ADMINISTRATIVE LEVES SPAIN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82D730-0955-46AA-83BD-4A417BD711A0}"/>
              </a:ext>
            </a:extLst>
          </p:cNvPr>
          <p:cNvSpPr txBox="1"/>
          <p:nvPr/>
        </p:nvSpPr>
        <p:spPr>
          <a:xfrm>
            <a:off x="1751797" y="1982803"/>
            <a:ext cx="872049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0" dirty="0">
                <a:latin typeface="Helvetica" panose="020B0604020202020204" pitchFamily="34" charset="0"/>
                <a:cs typeface="Helvetica" panose="020B0604020202020204" pitchFamily="34" charset="0"/>
              </a:rPr>
              <a:t>ID CENSUS TRACT</a:t>
            </a:r>
          </a:p>
          <a:p>
            <a:r>
              <a:rPr lang="es-ES" sz="12000" dirty="0">
                <a:latin typeface="Helvetica" panose="020B0604020202020204" pitchFamily="34" charset="0"/>
                <a:cs typeface="Helvetica" panose="020B0604020202020204" pitchFamily="34" charset="0"/>
              </a:rPr>
              <a:t>0801901001</a:t>
            </a:r>
          </a:p>
        </p:txBody>
      </p:sp>
    </p:spTree>
    <p:extLst>
      <p:ext uri="{BB962C8B-B14F-4D97-AF65-F5344CB8AC3E}">
        <p14:creationId xmlns:p14="http://schemas.microsoft.com/office/powerpoint/2010/main" val="145863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5">
            <a:extLst>
              <a:ext uri="{FF2B5EF4-FFF2-40B4-BE49-F238E27FC236}">
                <a16:creationId xmlns:a16="http://schemas.microsoft.com/office/drawing/2014/main" id="{9A6B8944-6A50-4949-9B04-6273C4801A22}"/>
              </a:ext>
            </a:extLst>
          </p:cNvPr>
          <p:cNvCxnSpPr/>
          <p:nvPr/>
        </p:nvCxnSpPr>
        <p:spPr>
          <a:xfrm>
            <a:off x="152837" y="528641"/>
            <a:ext cx="11880000" cy="9427"/>
          </a:xfrm>
          <a:prstGeom prst="line">
            <a:avLst/>
          </a:prstGeom>
          <a:ln w="66675">
            <a:solidFill>
              <a:srgbClr val="533B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982D730-0955-46AA-83BD-4A417BD711A0}"/>
              </a:ext>
            </a:extLst>
          </p:cNvPr>
          <p:cNvSpPr txBox="1"/>
          <p:nvPr/>
        </p:nvSpPr>
        <p:spPr>
          <a:xfrm>
            <a:off x="1751797" y="1982803"/>
            <a:ext cx="872049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0" dirty="0">
                <a:latin typeface="Helvetica" panose="020B0604020202020204" pitchFamily="34" charset="0"/>
                <a:cs typeface="Helvetica" panose="020B0604020202020204" pitchFamily="34" charset="0"/>
              </a:rPr>
              <a:t>ID PROVINCE</a:t>
            </a:r>
          </a:p>
          <a:p>
            <a:r>
              <a:rPr lang="es-ES" sz="120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08</a:t>
            </a:r>
            <a:r>
              <a:rPr lang="es-ES" sz="12000" dirty="0">
                <a:latin typeface="Helvetica" panose="020B0604020202020204" pitchFamily="34" charset="0"/>
                <a:cs typeface="Helvetica" panose="020B0604020202020204" pitchFamily="34" charset="0"/>
              </a:rPr>
              <a:t>01901001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299A1B-A998-4408-A201-A1086CD93F06}"/>
              </a:ext>
            </a:extLst>
          </p:cNvPr>
          <p:cNvSpPr/>
          <p:nvPr/>
        </p:nvSpPr>
        <p:spPr>
          <a:xfrm>
            <a:off x="279750" y="130072"/>
            <a:ext cx="77720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 err="1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IDs</a:t>
            </a:r>
            <a:r>
              <a:rPr lang="es-ES" b="1" dirty="0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ADMINISTRATIVE LEVES SPAIN</a:t>
            </a:r>
          </a:p>
        </p:txBody>
      </p:sp>
    </p:spTree>
    <p:extLst>
      <p:ext uri="{BB962C8B-B14F-4D97-AF65-F5344CB8AC3E}">
        <p14:creationId xmlns:p14="http://schemas.microsoft.com/office/powerpoint/2010/main" val="2965450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5">
            <a:extLst>
              <a:ext uri="{FF2B5EF4-FFF2-40B4-BE49-F238E27FC236}">
                <a16:creationId xmlns:a16="http://schemas.microsoft.com/office/drawing/2014/main" id="{9A6B8944-6A50-4949-9B04-6273C4801A22}"/>
              </a:ext>
            </a:extLst>
          </p:cNvPr>
          <p:cNvCxnSpPr/>
          <p:nvPr/>
        </p:nvCxnSpPr>
        <p:spPr>
          <a:xfrm>
            <a:off x="152837" y="528641"/>
            <a:ext cx="11880000" cy="9427"/>
          </a:xfrm>
          <a:prstGeom prst="line">
            <a:avLst/>
          </a:prstGeom>
          <a:ln w="66675">
            <a:solidFill>
              <a:srgbClr val="533B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982D730-0955-46AA-83BD-4A417BD711A0}"/>
              </a:ext>
            </a:extLst>
          </p:cNvPr>
          <p:cNvSpPr txBox="1"/>
          <p:nvPr/>
        </p:nvSpPr>
        <p:spPr>
          <a:xfrm>
            <a:off x="1751797" y="1982803"/>
            <a:ext cx="872049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0" dirty="0">
                <a:latin typeface="Helvetica" panose="020B0604020202020204" pitchFamily="34" charset="0"/>
                <a:cs typeface="Helvetica" panose="020B0604020202020204" pitchFamily="34" charset="0"/>
              </a:rPr>
              <a:t>ID MUNCIPALITY</a:t>
            </a:r>
          </a:p>
          <a:p>
            <a:r>
              <a:rPr lang="es-ES" sz="120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08019</a:t>
            </a:r>
            <a:r>
              <a:rPr lang="es-ES" sz="12000" dirty="0">
                <a:latin typeface="Helvetica" panose="020B0604020202020204" pitchFamily="34" charset="0"/>
                <a:cs typeface="Helvetica" panose="020B0604020202020204" pitchFamily="34" charset="0"/>
              </a:rPr>
              <a:t>01001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A6343A-E510-4724-84F7-3A3F5FD8BF1A}"/>
              </a:ext>
            </a:extLst>
          </p:cNvPr>
          <p:cNvSpPr/>
          <p:nvPr/>
        </p:nvSpPr>
        <p:spPr>
          <a:xfrm>
            <a:off x="279750" y="130072"/>
            <a:ext cx="77720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 err="1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IDs</a:t>
            </a:r>
            <a:r>
              <a:rPr lang="es-ES" b="1" dirty="0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ADMINISTRATIVE LEVES SPAIN</a:t>
            </a:r>
          </a:p>
        </p:txBody>
      </p:sp>
    </p:spTree>
    <p:extLst>
      <p:ext uri="{BB962C8B-B14F-4D97-AF65-F5344CB8AC3E}">
        <p14:creationId xmlns:p14="http://schemas.microsoft.com/office/powerpoint/2010/main" val="577259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5">
            <a:extLst>
              <a:ext uri="{FF2B5EF4-FFF2-40B4-BE49-F238E27FC236}">
                <a16:creationId xmlns:a16="http://schemas.microsoft.com/office/drawing/2014/main" id="{9A6B8944-6A50-4949-9B04-6273C4801A22}"/>
              </a:ext>
            </a:extLst>
          </p:cNvPr>
          <p:cNvCxnSpPr/>
          <p:nvPr/>
        </p:nvCxnSpPr>
        <p:spPr>
          <a:xfrm>
            <a:off x="152837" y="528641"/>
            <a:ext cx="11880000" cy="9427"/>
          </a:xfrm>
          <a:prstGeom prst="line">
            <a:avLst/>
          </a:prstGeom>
          <a:ln w="66675">
            <a:solidFill>
              <a:srgbClr val="533B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982D730-0955-46AA-83BD-4A417BD711A0}"/>
              </a:ext>
            </a:extLst>
          </p:cNvPr>
          <p:cNvSpPr txBox="1"/>
          <p:nvPr/>
        </p:nvSpPr>
        <p:spPr>
          <a:xfrm>
            <a:off x="1751797" y="1982803"/>
            <a:ext cx="872049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0" dirty="0">
                <a:latin typeface="Helvetica" panose="020B0604020202020204" pitchFamily="34" charset="0"/>
                <a:cs typeface="Helvetica" panose="020B0604020202020204" pitchFamily="34" charset="0"/>
              </a:rPr>
              <a:t>ID DISTRICT</a:t>
            </a:r>
          </a:p>
          <a:p>
            <a:r>
              <a:rPr lang="es-ES" sz="120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0801901</a:t>
            </a:r>
            <a:r>
              <a:rPr lang="es-ES" sz="12000" dirty="0">
                <a:latin typeface="Helvetica" panose="020B0604020202020204" pitchFamily="34" charset="0"/>
                <a:cs typeface="Helvetica" panose="020B0604020202020204" pitchFamily="34" charset="0"/>
              </a:rPr>
              <a:t>001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34D629-7B14-4851-BEEA-CE77E255658B}"/>
              </a:ext>
            </a:extLst>
          </p:cNvPr>
          <p:cNvSpPr/>
          <p:nvPr/>
        </p:nvSpPr>
        <p:spPr>
          <a:xfrm>
            <a:off x="279750" y="130072"/>
            <a:ext cx="77720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 err="1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IDs</a:t>
            </a:r>
            <a:r>
              <a:rPr lang="es-ES" b="1" dirty="0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ADMINISTRATIVE LEVES SPAIN</a:t>
            </a:r>
          </a:p>
        </p:txBody>
      </p:sp>
    </p:spTree>
    <p:extLst>
      <p:ext uri="{BB962C8B-B14F-4D97-AF65-F5344CB8AC3E}">
        <p14:creationId xmlns:p14="http://schemas.microsoft.com/office/powerpoint/2010/main" val="3708038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5">
            <a:extLst>
              <a:ext uri="{FF2B5EF4-FFF2-40B4-BE49-F238E27FC236}">
                <a16:creationId xmlns:a16="http://schemas.microsoft.com/office/drawing/2014/main" id="{9A6B8944-6A50-4949-9B04-6273C4801A22}"/>
              </a:ext>
            </a:extLst>
          </p:cNvPr>
          <p:cNvCxnSpPr/>
          <p:nvPr/>
        </p:nvCxnSpPr>
        <p:spPr>
          <a:xfrm>
            <a:off x="152837" y="528641"/>
            <a:ext cx="11880000" cy="9427"/>
          </a:xfrm>
          <a:prstGeom prst="line">
            <a:avLst/>
          </a:prstGeom>
          <a:ln w="66675">
            <a:solidFill>
              <a:srgbClr val="533B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982D730-0955-46AA-83BD-4A417BD711A0}"/>
              </a:ext>
            </a:extLst>
          </p:cNvPr>
          <p:cNvSpPr txBox="1"/>
          <p:nvPr/>
        </p:nvSpPr>
        <p:spPr>
          <a:xfrm>
            <a:off x="1751797" y="1982803"/>
            <a:ext cx="872049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0" dirty="0">
                <a:latin typeface="Helvetica" panose="020B0604020202020204" pitchFamily="34" charset="0"/>
                <a:cs typeface="Helvetica" panose="020B0604020202020204" pitchFamily="34" charset="0"/>
              </a:rPr>
              <a:t>ID CENSUS TRACT</a:t>
            </a:r>
          </a:p>
          <a:p>
            <a:r>
              <a:rPr lang="es-ES" sz="120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0801901001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142F07-5940-4BC3-97AD-85F84684E06C}"/>
              </a:ext>
            </a:extLst>
          </p:cNvPr>
          <p:cNvSpPr/>
          <p:nvPr/>
        </p:nvSpPr>
        <p:spPr>
          <a:xfrm>
            <a:off x="279750" y="130072"/>
            <a:ext cx="77720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 err="1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IDs</a:t>
            </a:r>
            <a:r>
              <a:rPr lang="es-ES" b="1" dirty="0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ADMINISTRATIVE LEVES SPAIN</a:t>
            </a:r>
          </a:p>
        </p:txBody>
      </p:sp>
    </p:spTree>
    <p:extLst>
      <p:ext uri="{BB962C8B-B14F-4D97-AF65-F5344CB8AC3E}">
        <p14:creationId xmlns:p14="http://schemas.microsoft.com/office/powerpoint/2010/main" val="3867301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5">
            <a:extLst>
              <a:ext uri="{FF2B5EF4-FFF2-40B4-BE49-F238E27FC236}">
                <a16:creationId xmlns:a16="http://schemas.microsoft.com/office/drawing/2014/main" id="{9A6B8944-6A50-4949-9B04-6273C4801A22}"/>
              </a:ext>
            </a:extLst>
          </p:cNvPr>
          <p:cNvCxnSpPr/>
          <p:nvPr/>
        </p:nvCxnSpPr>
        <p:spPr>
          <a:xfrm>
            <a:off x="152837" y="528641"/>
            <a:ext cx="11880000" cy="9427"/>
          </a:xfrm>
          <a:prstGeom prst="line">
            <a:avLst/>
          </a:prstGeom>
          <a:ln w="66675">
            <a:solidFill>
              <a:srgbClr val="533B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D45DDA7-CA84-4FE3-8BF4-8D1306BB7BD1}"/>
              </a:ext>
            </a:extLst>
          </p:cNvPr>
          <p:cNvSpPr/>
          <p:nvPr/>
        </p:nvSpPr>
        <p:spPr>
          <a:xfrm>
            <a:off x="279750" y="130072"/>
            <a:ext cx="77720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EXERCISE 1: </a:t>
            </a:r>
            <a:r>
              <a:rPr lang="es-ES" b="1" dirty="0" err="1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Crop</a:t>
            </a:r>
            <a:r>
              <a:rPr lang="es-ES" b="1" dirty="0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a </a:t>
            </a:r>
            <a:r>
              <a:rPr lang="es-ES" b="1" dirty="0" err="1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map</a:t>
            </a:r>
            <a:endParaRPr lang="es-ES" b="1" dirty="0">
              <a:solidFill>
                <a:srgbClr val="533B96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23832D3-6635-4806-9373-15E005BA66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22" b="8121"/>
          <a:stretch/>
        </p:blipFill>
        <p:spPr bwMode="auto">
          <a:xfrm>
            <a:off x="279750" y="863426"/>
            <a:ext cx="11550650" cy="569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82B7490-23E3-4941-B8AA-D8802CA73130}"/>
              </a:ext>
            </a:extLst>
          </p:cNvPr>
          <p:cNvSpPr/>
          <p:nvPr/>
        </p:nvSpPr>
        <p:spPr>
          <a:xfrm>
            <a:off x="5710767" y="2307167"/>
            <a:ext cx="643466" cy="3175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8715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5">
            <a:extLst>
              <a:ext uri="{FF2B5EF4-FFF2-40B4-BE49-F238E27FC236}">
                <a16:creationId xmlns:a16="http://schemas.microsoft.com/office/drawing/2014/main" id="{9A6B8944-6A50-4949-9B04-6273C4801A22}"/>
              </a:ext>
            </a:extLst>
          </p:cNvPr>
          <p:cNvCxnSpPr/>
          <p:nvPr/>
        </p:nvCxnSpPr>
        <p:spPr>
          <a:xfrm>
            <a:off x="152837" y="528641"/>
            <a:ext cx="11880000" cy="9427"/>
          </a:xfrm>
          <a:prstGeom prst="line">
            <a:avLst/>
          </a:prstGeom>
          <a:ln w="66675">
            <a:solidFill>
              <a:srgbClr val="533B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D45DDA7-CA84-4FE3-8BF4-8D1306BB7BD1}"/>
              </a:ext>
            </a:extLst>
          </p:cNvPr>
          <p:cNvSpPr/>
          <p:nvPr/>
        </p:nvSpPr>
        <p:spPr>
          <a:xfrm>
            <a:off x="279750" y="130072"/>
            <a:ext cx="77720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EXERCISE 1: </a:t>
            </a:r>
            <a:r>
              <a:rPr lang="es-ES" b="1" dirty="0" err="1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Crop</a:t>
            </a:r>
            <a:r>
              <a:rPr lang="es-ES" b="1" dirty="0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a </a:t>
            </a:r>
            <a:r>
              <a:rPr lang="es-ES" b="1" dirty="0" err="1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map</a:t>
            </a:r>
            <a:endParaRPr lang="es-ES" b="1" dirty="0">
              <a:solidFill>
                <a:srgbClr val="533B96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EEC50AF-6BD6-4329-9F73-FC9449898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438" y="673556"/>
            <a:ext cx="10353125" cy="6146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3475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5">
            <a:extLst>
              <a:ext uri="{FF2B5EF4-FFF2-40B4-BE49-F238E27FC236}">
                <a16:creationId xmlns:a16="http://schemas.microsoft.com/office/drawing/2014/main" id="{9A6B8944-6A50-4949-9B04-6273C4801A22}"/>
              </a:ext>
            </a:extLst>
          </p:cNvPr>
          <p:cNvCxnSpPr/>
          <p:nvPr/>
        </p:nvCxnSpPr>
        <p:spPr>
          <a:xfrm>
            <a:off x="152837" y="528641"/>
            <a:ext cx="11880000" cy="9427"/>
          </a:xfrm>
          <a:prstGeom prst="line">
            <a:avLst/>
          </a:prstGeom>
          <a:ln w="66675">
            <a:solidFill>
              <a:srgbClr val="533B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D45DDA7-CA84-4FE3-8BF4-8D1306BB7BD1}"/>
              </a:ext>
            </a:extLst>
          </p:cNvPr>
          <p:cNvSpPr/>
          <p:nvPr/>
        </p:nvSpPr>
        <p:spPr>
          <a:xfrm>
            <a:off x="279749" y="130072"/>
            <a:ext cx="112031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Exercise 2: Choropleth maps (Foreign-born population by my </a:t>
            </a:r>
            <a:r>
              <a:rPr lang="en-US" b="1" dirty="0" err="1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municipalty</a:t>
            </a:r>
            <a:r>
              <a:rPr lang="en-US" b="1" dirty="0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 Madrid 2022)</a:t>
            </a:r>
            <a:endParaRPr lang="es-ES" b="1" dirty="0">
              <a:solidFill>
                <a:srgbClr val="533B96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63A5789-5B57-4B9E-9239-91C18B3A2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7127" y="663516"/>
            <a:ext cx="6761687" cy="6146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horoplet map.">
            <a:extLst>
              <a:ext uri="{FF2B5EF4-FFF2-40B4-BE49-F238E27FC236}">
                <a16:creationId xmlns:a16="http://schemas.microsoft.com/office/drawing/2014/main" id="{338B01BD-1FEA-440A-AC74-4A61E93C2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487" y="605505"/>
            <a:ext cx="5635023" cy="590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5746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5">
            <a:extLst>
              <a:ext uri="{FF2B5EF4-FFF2-40B4-BE49-F238E27FC236}">
                <a16:creationId xmlns:a16="http://schemas.microsoft.com/office/drawing/2014/main" id="{9A6B8944-6A50-4949-9B04-6273C4801A22}"/>
              </a:ext>
            </a:extLst>
          </p:cNvPr>
          <p:cNvCxnSpPr/>
          <p:nvPr/>
        </p:nvCxnSpPr>
        <p:spPr>
          <a:xfrm>
            <a:off x="152837" y="528641"/>
            <a:ext cx="11880000" cy="9427"/>
          </a:xfrm>
          <a:prstGeom prst="line">
            <a:avLst/>
          </a:prstGeom>
          <a:ln w="66675">
            <a:solidFill>
              <a:srgbClr val="533B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D45DDA7-CA84-4FE3-8BF4-8D1306BB7BD1}"/>
              </a:ext>
            </a:extLst>
          </p:cNvPr>
          <p:cNvSpPr/>
          <p:nvPr/>
        </p:nvSpPr>
        <p:spPr>
          <a:xfrm>
            <a:off x="279749" y="130072"/>
            <a:ext cx="112031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33B9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Exercise 3: Heatmaps, The cholera outbreak in Soho</a:t>
            </a:r>
            <a:endParaRPr lang="es-ES" b="1" dirty="0">
              <a:solidFill>
                <a:srgbClr val="533B96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DC4F9316-0AE2-42A4-A029-D6B465E677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89"/>
          <a:stretch/>
        </p:blipFill>
        <p:spPr bwMode="auto">
          <a:xfrm>
            <a:off x="5975687" y="684321"/>
            <a:ext cx="6027015" cy="6086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Jhon Snow Map.">
            <a:extLst>
              <a:ext uri="{FF2B5EF4-FFF2-40B4-BE49-F238E27FC236}">
                <a16:creationId xmlns:a16="http://schemas.microsoft.com/office/drawing/2014/main" id="{6BBA796C-E62B-4DDA-8056-667599D08D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96" y="957058"/>
            <a:ext cx="6233143" cy="5848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9691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197</Words>
  <Application>Microsoft Office PowerPoint</Application>
  <PresentationFormat>Widescreen</PresentationFormat>
  <Paragraphs>39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Helvetica</vt:lpstr>
      <vt:lpstr>Office Theme</vt:lpstr>
      <vt:lpstr>Digital Cartography and Spatial Analisys with 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Cartography and Spatial Analisys with R</dc:title>
  <dc:creator>jgaleano</dc:creator>
  <cp:lastModifiedBy>jgaleano</cp:lastModifiedBy>
  <cp:revision>9</cp:revision>
  <dcterms:created xsi:type="dcterms:W3CDTF">2025-07-21T17:18:04Z</dcterms:created>
  <dcterms:modified xsi:type="dcterms:W3CDTF">2026-06-08T16:50:53Z</dcterms:modified>
</cp:coreProperties>
</file>